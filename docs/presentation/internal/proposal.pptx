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売上</c:v>
                </c:pt>
              </c:strCache>
            </c:strRef>
          </c:tx>
          <c:spPr>
            <a:solidFill>
              <a:srgbClr val="1F3A5F"/>
            </a:solidFill>
          </c:spPr>
          <c:cat>
            <c:strRef>
              <c:f>Sheet1!$A$2:$A$4</c:f>
              <c:strCache>
                <c:ptCount val="3"/>
                <c:pt idx="0">
                  <c:v>1年目</c:v>
                </c:pt>
                <c:pt idx="1">
                  <c:v>2年目</c:v>
                </c:pt>
                <c:pt idx="2">
                  <c:v>3年目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11760.0</c:v>
                </c:pt>
                <c:pt idx="1">
                  <c:v>294000.0</c:v>
                </c:pt>
                <c:pt idx="2">
                  <c:v>1176000.0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費用</c:v>
                </c:pt>
              </c:strCache>
            </c:strRef>
          </c:tx>
          <c:spPr>
            <a:solidFill>
              <a:srgbClr val="E07A1F"/>
            </a:solidFill>
          </c:spPr>
          <c:cat>
            <c:strRef>
              <c:f>Sheet1!$A$2:$A$4</c:f>
              <c:strCache>
                <c:ptCount val="3"/>
                <c:pt idx="0">
                  <c:v>1年目</c:v>
                </c:pt>
                <c:pt idx="1">
                  <c:v>2年目</c:v>
                </c:pt>
                <c:pt idx="2">
                  <c:v>3年目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40106.0</c:v>
                </c:pt>
                <c:pt idx="1">
                  <c:v>60642.0</c:v>
                </c:pt>
                <c:pt idx="2">
                  <c:v>114168.0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累積損益</c:v>
                </c:pt>
              </c:strCache>
            </c:strRef>
          </c:tx>
          <c:spPr>
            <a:solidFill>
              <a:srgbClr val="6B7280"/>
            </a:solidFill>
          </c:spPr>
          <c:cat>
            <c:strRef>
              <c:f>Sheet1!$A$2:$A$4</c:f>
              <c:strCache>
                <c:ptCount val="3"/>
                <c:pt idx="0">
                  <c:v>1年目</c:v>
                </c:pt>
                <c:pt idx="1">
                  <c:v>2年目</c:v>
                </c:pt>
                <c:pt idx="2">
                  <c:v>3年目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-28346.0</c:v>
                </c:pt>
                <c:pt idx="1">
                  <c:v>205012.0</c:v>
                </c:pt>
                <c:pt idx="2">
                  <c:v>1266844.0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latin typeface="Meiry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この資料は、名前の候補チェックサービスの事業計画をまとめたものである。承認してほしいのは、MVP の開発と公開、および撤退の基準を含む 3 年間の計画である。</a:t>
            </a:r>
          </a:p>
          <a:p/>
          <a:p>
            <a:r>
              <a:t>数字は事業計画の正本 docs/project.md（2026-09-23 版）から取っている。各スライドの下に出典を示す。計画期間は 2026 年 10 月〜2029 年 9 月の 3 年で、期は 10 月始まりである。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要約:</a:t>
            </a:r>
          </a:p>
          <a:p>
            <a:r>
              <a:t>- 誰の課題か: 個人・中小企業の名付け担当が、名前の候補ごとに商標検索と Web 検索を別々に手作業で行っている。</a:t>
            </a:r>
          </a:p>
          <a:p>
            <a:r>
              <a:t>- 何をするか: 複数の候補について、商標、Google 検索、ドメイン、SNS の使用状況を 1 回の入力で確かめ、比較表で絞り込めるようにする。</a:t>
            </a:r>
          </a:p>
          <a:p>
            <a:r>
              <a:t>- お金の見通し: MVP は無料で公開し、その 6 か月後に月額 980 円の有料プランを始める。標準シナリオでは 2 年目に単年でも累積でも黒字になる。必要資金は 28,346 円で、自己資金で賄う。</a:t>
            </a:r>
          </a:p>
          <a:p>
            <a:r>
              <a:t>- 目指す姿: 3 年後に、副業の規模で黒字を続ける（費用を賄ったうえで、月に数万〜十数万円の利益）。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弁理士事務所の解説でも、商標調査と Web 上の使用状況の確認は別の作業として説明されている（competitor.md §1.3。https://www.kaipat.com/trademarkc/ 、2026-09-23）。</a:t>
            </a:r>
          </a:p>
          <a:p/>
          <a:p>
            <a:r>
              <a:t>商標検索サービス（Toreru、Cotobox、TM-RoBo）はいずれも Web 検索の結果を示していない（competitor.md §1.2）。ドメインと SNS の空きを同時に確かめられるのは、調べた範囲では NAZUKE だけである。</a:t>
            </a:r>
          </a:p>
          <a:p/>
          <a:p>
            <a:r>
              <a:t>有料の商標調査の料金は、JPDS の同一商標調査が 6,000 円/商標、類似商標調査が 20,000 円〜/商標（税別）。Cotobox の解説によると、文字商標の調査は 1 万〜3 万 3,000 円である（project.md §2、§9 の出典）。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勝ち筋は、商標と Google 検索（とドメイン・SNS）を 1 回の入力で確かめ、複数の候補を並べて比べられることである（premises P10）。</a:t>
            </a:r>
          </a:p>
          <a:p/>
          <a:p>
            <a:r>
              <a:t>確かめる内容（premises P3、P5）:</a:t>
            </a:r>
          </a:p>
          <a:p>
            <a:r>
              <a:t>- 商標: 同一と称呼（読み）の類似を、区分で絞り込んで示す。</a:t>
            </a:r>
          </a:p>
          <a:p>
            <a:r>
              <a:t>- Google 検索: 上位の結果と、一致の目安を示す。</a:t>
            </a:r>
          </a:p>
          <a:p>
            <a:r>
              <a:t>- ドメイン: 利用者が選んだ TLD の空きを確かめる。</a:t>
            </a:r>
          </a:p>
          <a:p>
            <a:r>
              <a:t>- SNS: YouTube は自動で判定し、X・Instagram・TikTok は手動で確かめるためのリンクを示す。</a:t>
            </a:r>
          </a:p>
          <a:p/>
          <a:p>
            <a:r>
              <a:t>やらないことは、商標出願の代行・連携と、類否の最終判断である。結果は「簡易チェック」であり、法的な判断ではないことを画面で明示する（premises P6、P10）。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算出方法（project.md §2）:</a:t>
            </a:r>
          </a:p>
          <a:p>
            <a:r>
              <a:t>- TAM: 2025 年の商標登録出願 168,114 件 × 同一商標調査の料金 6,000 円/商標 ≒ 年約 10 億円。</a:t>
            </a:r>
          </a:p>
          <a:p>
            <a:r>
              <a:t>- SAM: 2020 年の中小企業の商標登録出願 83,007 件（内国人出願の 61.3%）× 6,000 円 ≒ 年約 5 億円。個人の出願件数は確認できなかったため、SAM に入れていない。</a:t>
            </a:r>
          </a:p>
          <a:p>
            <a:r>
              <a:t>- SOM: 有料会員 100 人 × 980 円 × 12 か月 ≒ 年約 118 万円。SAM の約 0.2% にあたる。</a:t>
            </a:r>
          </a:p>
          <a:p/>
          <a:p>
            <a:r>
              <a:t>参考: 2025 年の新設法人は 157,011 社で、過去最多である（東京商工リサーチ）。</a:t>
            </a:r>
          </a:p>
          <a:p/>
          <a:p>
            <a:r>
              <a:t>特許行政年次報告書の値は、ページが 403 で取得できなかったため、検索結果の要約で確認した。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 の範囲は、複数候補の一括チェック（商標・Google 検索・ドメイン・SNS）、比較表、履歴の保存・再表示・削除、ユーザーごとの利用回数の上限である（premises P8）。</a:t>
            </a:r>
          </a:p>
          <a:p/>
          <a:p>
            <a:r>
              <a:t>各機能の中身:</a:t>
            </a:r>
          </a:p>
          <a:p>
            <a:r>
              <a:t>- 000 アプリ基盤: 個人アカウントの認証、退会、規約と Cookie の同意、メール、メンテナンス表示。</a:t>
            </a:r>
          </a:p>
          <a:p>
            <a:r>
              <a:t>- 001: 複数候補を一括実行し、商標の同一・称呼類似を比較表に示す。</a:t>
            </a:r>
          </a:p>
          <a:p>
            <a:r>
              <a:t>- 002: Google の上位結果と「該当あり／なし」の目安を比較表に加える。</a:t>
            </a:r>
          </a:p>
          <a:p>
            <a:r>
              <a:t>- 003: 選んだ TLD の空きと、SNS の使用状況（YouTube は自動、X・Instagram・TikTok はリンク）を加える。</a:t>
            </a:r>
          </a:p>
          <a:p>
            <a:r>
              <a:t>- 004: 過去のチェックを本人だけが見返し、削除できる。</a:t>
            </a:r>
          </a:p>
          <a:p>
            <a:r>
              <a:t>- 005: 利用者の停止、上限の設定、外部 API の利用量、監査ログ、お問い合わせ。</a:t>
            </a:r>
          </a:p>
          <a:p>
            <a:r>
              <a:t>- 999: 自動デプロイ、監視、バックアップ、脆弱性スキャン、費用の上限による停止。</a:t>
            </a:r>
          </a:p>
          <a:p/>
          <a:p>
            <a:r>
              <a:t>000 と 001 は 2026-09-23 に完了した。有料プランと決済（backlog BL-001）は、MVP の後の有料化の前に入れる。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収益モデル: premises P9 のとおり、MVP は無料で公開し、ユーザーごとに利用回数の上限を設ける。公開の 6 か月後に有料プラン（backlog BL-001）を入れ、月額課金にする（project.md §3）。</a:t>
            </a:r>
          </a:p>
          <a:p/>
          <a:p>
            <a:r>
              <a:t>価格の根拠: 同一商標の調査は 1 商標 6,000 円（JPDS）、月額制の TM-SONAR は月 2,000〜90,000 円である。これより安くして、個人でも試しやすくする。</a:t>
            </a:r>
          </a:p>
          <a:p/>
          <a:p>
            <a:r>
              <a:t>未決の点: 無料プランの上限の値と、有料プランで広げる量は、BL-001 の仕様化で決める（有料化の前、2027 年 7 月まで）。決済手数料は 4.3%（Stripe の国内カード 3.6% と Stripe Billing 0.7%）で見積もっている。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標準シナリオの前提（project.md §4）:</a:t>
            </a:r>
          </a:p>
          <a:p>
            <a:r>
              <a:t>- 有料会員の年平均: 1 → 25 → 100 人。1 年目は有料の期間が 2 か月ほどしかないため、年平均は小さい。</a:t>
            </a:r>
          </a:p>
          <a:p>
            <a:r>
              <a:t>- 単価: 980 円（税込の受取額で計算。消費税の扱いは未決）。</a:t>
            </a:r>
          </a:p>
          <a:p>
            <a:r>
              <a:t>- インフラと外部 API: 月 3,300 → 4,000 → 5,300 円（architecture.md §5 の概算）。</a:t>
            </a:r>
          </a:p>
          <a:p>
            <a:r>
              <a:t>- 人件費と広告費: 0 円。副業のため、利益をそのまま本人の報酬とみなす。広告は使わず、SEO 記事と SNS で集客する。</a:t>
            </a:r>
          </a:p>
          <a:p>
            <a:r>
              <a:t>- 決済手数料: 売上の 4.3%。</a:t>
            </a:r>
          </a:p>
          <a:p>
            <a:r>
              <a:t>- 初期投資: 0 円（個人事業で始める）。</a:t>
            </a:r>
          </a:p>
          <a:p/>
          <a:p>
            <a:r>
              <a:t>結果: 1 年目は 28,346 円の赤字、2 年目は 233,358 円の黒字、3 年目は 1,061,832 円の黒字。累積損益は 2 年目に 205,012 円の黒字に転じ、3 年目の末に 1,266,844 円になる。損益分岐は有料会員 4〜6 人である。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つのシナリオとも、2 年目に単年で黒字になり、累積でも 2 年目に黒字に転じる。損益分岐は有料会員 4〜8 人である（project.md §4）。</a:t>
            </a:r>
          </a:p>
          <a:p/>
          <a:p>
            <a:r>
              <a:t>シナリオの違い:</a:t>
            </a:r>
          </a:p>
          <a:p>
            <a:r>
              <a:t>- 楽観: 公開 2026-12、有料化 2027-06。インフラは月 3,300 → 5,300 → 6,600 円。</a:t>
            </a:r>
          </a:p>
          <a:p>
            <a:r>
              <a:t>- 標準: 公開 2027-02、有料化 2027-08。インフラは月 3,300 → 4,000 → 5,300 円。</a:t>
            </a:r>
          </a:p>
          <a:p>
            <a:r>
              <a:t>- 悲観: 公開 2027-04、有料化 2027-10。インフラは月 3,300 → 3,300 → 4,000 円。</a:t>
            </a:r>
          </a:p>
          <a:p/>
          <a:p>
            <a:r>
              <a:t>資金は自己資金だけで賄う（PJ-Q4）。結果に最も効くのは有料会員の数、つまり無料から有料に移る率と解約率である。名付けはたまにしか行わないため、月額課金では解約が多くなりやすい。</a:t>
            </a:r>
          </a:p>
          <a:p/>
          <a:p>
            <a:r>
              <a:t>注意: 特許庁の商標データを個人事業主の名義で商用に使えない場合は、合同会社の設立（登録免許税 6 万円〜）が必要になり、初期投資が増える（project.md §8）。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主な KPI は有料会員数（月末時点で有料プランを契約している利用者の数）で、決済サービスの契約件数で計測する（project.md §5）。</a:t>
            </a:r>
          </a:p>
          <a:p/>
          <a:p>
            <a:r>
              <a:t>判断の時期:</a:t>
            </a:r>
          </a:p>
          <a:p>
            <a:r>
              <a:t>- 見直しの判定（有料化の 6 か月後、2028 年 1〜4 月）: 10 人未満なら、獲得経路と価格を見直す。回数パック（従量課金）なども検討する。</a:t>
            </a:r>
          </a:p>
          <a:p>
            <a:r>
              <a:t>- 撤退の判定（有料化の 12 か月後、2028 年 7〜10 月）: 20 人未満なら、撤退を検討する。</a:t>
            </a:r>
          </a:p>
          <a:p/>
          <a:p>
            <a:r>
              <a:t>登録者数と月間チェック候補数は、公開後の実績をもとに、有料化の前（公開の 5 か月後まで）に目標を決める。</a:t>
            </a:r>
          </a:p>
          <a:p/>
          <a:p>
            <a:r>
              <a:t>月額費用の上限は NFR-CT-001 の MVP 時の値（5,000 円）である。標準・楽観シナリオの 3 年目は月 5,300〜6,600 円で、この上限を超える。有料化の前に、architecture と nfr の見直しで、成長時の上限（1 万円）に移すかを決める（project.md §10）。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完了の条件（project.md §6）:</a:t>
            </a:r>
          </a:p>
          <a:p>
            <a:r>
              <a:t>- M0: 特許庁の一括ダウンロードの申込が、事業に使える条件で承認される（architecture R1）。審査にかかる期間は確認できていない。</a:t>
            </a:r>
          </a:p>
          <a:p>
            <a:r>
              <a:t>- M1: spec_order の MVP の機能（002〜005、999）が完了する。</a:t>
            </a:r>
          </a:p>
          <a:p>
            <a:r>
              <a:t>- M2: M0 と M1 が終わり、本番で公開する。M0 が遅れると公開も遅れる。</a:t>
            </a:r>
          </a:p>
          <a:p>
            <a:r>
              <a:t>- M3: 公開の 6 か月後。有料プランと決済（BL-001）が完了する。</a:t>
            </a:r>
          </a:p>
          <a:p>
            <a:r>
              <a:t>- M4、M5: 有料化の 6 か月後と 12 か月後に、KPI の基準で判定する。</a:t>
            </a:r>
          </a:p>
          <a:p/>
          <a:p>
            <a:r>
              <a:t>公開の時期に期限は設けず、工数から決めた（PJ-Q10）。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工数の見積もり（project.md §6。1 人日 = 8 時間）:</a:t>
            </a:r>
          </a:p>
          <a:p>
            <a:r>
              <a:t>- 002 Google 検索チェック: 2〜4 人日（外部連携は Serper.dev の 1 つ）</a:t>
            </a:r>
          </a:p>
          <a:p>
            <a:r>
              <a:t>- 003 ドメイン・SNS: 3〜5 人日（外部連携が 3 つ）</a:t>
            </a:r>
          </a:p>
          <a:p>
            <a:r>
              <a:t>- 004 履歴: 1〜3 人日（外部連携なし）</a:t>
            </a:r>
          </a:p>
          <a:p>
            <a:r>
              <a:t>- 005 管理画面: 3〜6 人日（画面の数が多い）</a:t>
            </a:r>
          </a:p>
          <a:p>
            <a:r>
              <a:t>- 999 運用基盤: 3〜6 人日（CI/CD、監視、バックアップ、費用の上限による停止）</a:t>
            </a:r>
          </a:p>
          <a:p>
            <a:r>
              <a:t>- 公開準備: 1〜3 人日（本番 VPS の構築、商標マスタの取り込み、規約の最終確認）</a:t>
            </a:r>
          </a:p>
          <a:p/>
          <a:p>
            <a:r>
              <a:t>合計の 13〜27 人日は 104〜216 時間で、週 10 時間では 11〜22 週になる。</a:t>
            </a:r>
          </a:p>
          <a:p/>
          <a:p>
            <a:r>
              <a:t>体制（project.md §7）: 1 人で週 10 時間。監視とエラー通知はメールで受ける。可用性の目標は設けない（nfr.md NFR-AV-001）。公開した後は、稼働の一部を集客に回す。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主なリスク（project.md §8）:</a:t>
            </a:r>
          </a:p>
          <a:p>
            <a:r>
              <a:t>- 法規制: 特許庁の一括ダウンロードは審査制で、個人名義だと私的利用に限られる（architecture R1）。個人事業主の名義で商用に使えるかを申込の前に確かめ、使えなければ合同会社の設立を検討する（登録免許税 6 万円〜と、毎年の法人住民税の均等割がかかる）。</a:t>
            </a:r>
          </a:p>
          <a:p>
            <a:r>
              <a:t>- 市場: 名付けはたまにしか行わないため、有料会員が定着しない可能性が高い。見直しの基準に当たったら、回数パック（従量課金）などを検討する。</a:t>
            </a:r>
          </a:p>
          <a:p>
            <a:r>
              <a:t>- 市場: NAZUKE、Toreru 商標検索、J-PlatPat などの無料の競合がある。</a:t>
            </a:r>
          </a:p>
          <a:p>
            <a:r>
              <a:t>- 技術: Google と SERP 事業者の訴訟などで取得が止まる可能性がある（architecture R4）。SearchApi.io などに差し替えられるようにする。</a:t>
            </a:r>
          </a:p>
          <a:p>
            <a:r>
              <a:t>- 技術: 自前の称呼類似の精度は、専門ツールに及ばない（architecture R2）。</a:t>
            </a:r>
          </a:p>
          <a:p>
            <a:r>
              <a:t>- 運用: 障害に対応できるのが 1 人で、週 10 時間しか稼働できない。集客と開発が時間を取り合うリスクもある。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構成（architecture.md §2）: VPS 1 台で、Caddy、web（Next.js）、worker（pg-boss のジョブ実行）、PostgreSQL を動かす。バックアップは毎日 Cloudflare R2 に送る。エラー通知は Sentry、外形監視は UptimeRobot を使う。</a:t>
            </a:r>
          </a:p>
          <a:p/>
          <a:p>
            <a:r>
              <a:t>外部データ（architecture.md §2.1）: J-PlatPat の画面は自動で取得しない（ロボットアクセスが禁止されているため）。Google の公式の検索 API は 2027-01-01 に終了するため、第三者の API を使う。X・Instagram・TikTok は規約で自動アクセスが禁止されているため、リンクを示すだけにする。</a:t>
            </a:r>
          </a:p>
          <a:p/>
          <a:p>
            <a:r>
              <a:t>費用（architecture.md §5、参照日 2026-09-23）: MVP 時は月約 3,270 円（VPS 1,958 円、Serper.dev 約 1,310 円、ほかは無料枠）。ドメインの費用は含めていない。</a:t>
            </a:r>
          </a:p>
          <a:p/>
          <a:p>
            <a:r>
              <a:t>上限（nfr.md）: 上限の 80% で運営者に知らせ、100% に達したら有料の外部 API（Google 検索）の呼び出しだけを止める。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承認してほしいこと:</a:t>
            </a:r>
          </a:p>
          <a:p>
            <a:r>
              <a:t>1. 残りの MVP（002〜005、999）の開発と、無料での公開（2027 年 1〜4 月）</a:t>
            </a:r>
          </a:p>
          <a:p>
            <a:r>
              <a:t>2. 自己資金による運営（標準シナリオの必要資金は 28,346 円、悲観でも 39,600 円）</a:t>
            </a:r>
          </a:p>
          <a:p>
            <a:r>
              <a:t>3. 判断の基準（有料化の 6 か月後に 10 人未満で見直し、12 か月後に 20 人未満で撤退を検討）</a:t>
            </a:r>
          </a:p>
          <a:p/>
          <a:p>
            <a:r>
              <a:t>承認の後の次の一歩:</a:t>
            </a:r>
          </a:p>
          <a:p>
            <a:r>
              <a:t>- 特許庁の一括ダウンロードについて、個人事業主の名義で商用に使えるかを確かめて申し込む（M0）。</a:t>
            </a:r>
          </a:p>
          <a:p>
            <a:r>
              <a:t>- 002 Google 検索チェックの開発に着手する。</a:t>
            </a:r>
          </a:p>
          <a:p/>
          <a:p>
            <a:r>
              <a:t>未決の項目（project.md §10）:</a:t>
            </a:r>
          </a:p>
          <a:p>
            <a:r>
              <a:t>- 無料プランの上限と、有料プランで広げる量</a:t>
            </a:r>
          </a:p>
          <a:p>
            <a:r>
              <a:t>- 登録者数とチェック数の目標</a:t>
            </a:r>
          </a:p>
          <a:p>
            <a:r>
              <a:t>- 消費税の扱い</a:t>
            </a:r>
          </a:p>
          <a:p>
            <a:r>
              <a:t>- ドメインの費用</a:t>
            </a:r>
          </a:p>
          <a:p>
            <a:r>
              <a:t>- 特許庁の審査にかかる期間</a:t>
            </a:r>
          </a:p>
          <a:p>
            <a:r>
              <a:t>- 3 年目のインフラ費用が MVP 時の上限を超える件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4630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  <a:ea typeface="Meiryo"/>
                <a:cs typeface="Meiryo"/>
              </a:rPr>
              <a:t>名前の候補チェックサービス 事業計画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29000"/>
            <a:ext cx="1463040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1094415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2200" b="0">
                <a:solidFill>
                  <a:srgbClr val="FFFFFF"/>
                </a:solidFill>
                <a:latin typeface="Arial"/>
                <a:ea typeface="Meiryo"/>
                <a:cs typeface="Meiryo"/>
              </a:rPr>
              <a:t>商標・Google 検索・ドメイン・SNS を 1 回の入力でまとめて確かめる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  <a:ea typeface="Meiryo"/>
                <a:cs typeface="Meiryo"/>
              </a:rPr>
              <a:t>2026-09-23 ｜ sfukuda84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109728" cy="2194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728655" cy="1737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無料で公開し、自己資金約 3 万円で 2 年目に黒字化する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728655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8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標準シナリオの必要資金は 28,346 円、3 年目の有料会員は平均 100 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docs/project.md §1、§4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名付けの確認は、商標と Web を別々に手作業で調べている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4415" cy="4114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商標は J-PlatPat や商標検索サービス、Web は検索エンジンで別に調べる</a:t>
            </a:r>
          </a:p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調べた商標検索サービスは、Web 検索の結果を示していない</a:t>
            </a:r>
          </a:p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ドメインと SNS の空きまで一緒に確かめられるのは NAZUKE だけ</a:t>
            </a:r>
          </a:p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有料の商標調査は、同一商標の調査でも 1 商標 6,000 円かかる</a:t>
            </a:r>
          </a:p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候補が複数あると、手間は候補の数だけ増える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docs/feature/premises.md P1、docs/concept/competitor.md §1.2・§1.3、docs/project.md §2（JPDS 商標調査サービス、2026-09-23）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商標・Google・ドメイン・SNS を 1 回の入力で比べられる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364327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090007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既存の手段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364327" cy="3429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765"/>
              </a:spcAft>
            </a:pPr>
            <a:r>
              <a:rPr sz="17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7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商標と Web を別々に検索する</a:t>
            </a:r>
          </a:p>
          <a:p>
            <a:pPr>
              <a:spcAft>
                <a:spcPts val="765"/>
              </a:spcAft>
            </a:pPr>
            <a:r>
              <a:rPr sz="17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7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候補ごとに 1 件ずつ調べる</a:t>
            </a:r>
          </a:p>
          <a:p>
            <a:pPr>
              <a:spcAft>
                <a:spcPts val="765"/>
              </a:spcAft>
            </a:pPr>
            <a:r>
              <a:rPr sz="17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7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結果を自分で表にまとめる</a:t>
            </a:r>
          </a:p>
          <a:p>
            <a:pPr>
              <a:spcAft>
                <a:spcPts val="765"/>
              </a:spcAft>
            </a:pPr>
            <a:r>
              <a:rPr sz="17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7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有料調査は 1 商標数千円〜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508760"/>
            <a:ext cx="5364327" cy="5486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5887" y="1508760"/>
            <a:ext cx="5090007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このサービス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2194560"/>
            <a:ext cx="5364327" cy="3429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765"/>
              </a:spcAft>
            </a:pPr>
            <a:r>
              <a:rPr sz="17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7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1 回の入力でまとめて確認する</a:t>
            </a:r>
          </a:p>
          <a:p>
            <a:pPr>
              <a:spcAft>
                <a:spcPts val="765"/>
              </a:spcAft>
            </a:pPr>
            <a:r>
              <a:rPr sz="17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7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複数の候補を一括でチェックする</a:t>
            </a:r>
          </a:p>
          <a:p>
            <a:pPr>
              <a:spcAft>
                <a:spcPts val="765"/>
              </a:spcAft>
            </a:pPr>
            <a:r>
              <a:rPr sz="17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7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候補を比較表で見比べる</a:t>
            </a:r>
          </a:p>
          <a:p>
            <a:pPr>
              <a:spcAft>
                <a:spcPts val="765"/>
              </a:spcAft>
            </a:pPr>
            <a:r>
              <a:rPr sz="17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7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MVP は無料で使える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docs/feature/premises.md P3・P9・P10、docs/concept/competitor.md §1.2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中小企業の商標出願の前のチェックは年約 5 億円の市場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20"/>
            <a:ext cx="3515258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20"/>
            <a:ext cx="3515258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3515258" cy="10058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44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約10億円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149498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TAM: 全商標出願の前のチェック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218" y="1874520"/>
            <a:ext cx="3515258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8218" y="1874520"/>
            <a:ext cx="3515258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8218" y="2148840"/>
            <a:ext cx="3515258" cy="10058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44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約5億円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3200400"/>
            <a:ext cx="3149498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SAM: 中小企業の出願の前のチェック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874520"/>
            <a:ext cx="3515258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1874520"/>
            <a:ext cx="3515258" cy="73152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7796" y="2148840"/>
            <a:ext cx="3515258" cy="10058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44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約118万円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0676" y="3200400"/>
            <a:ext cx="3149498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SOM: 3 年目の有料会員 100 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docs/project.md §2（特許庁 特許行政年次報告書 2026 年版・2021 年版、INPIT 滋賀「知財の広場」、JPDS、2026-09-23）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MVP は 7 機能。基盤と商標照合は完了した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441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49"/>
                <a:gridCol w="7590915"/>
                <a:gridCol w="1751749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#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機能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状態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000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アプリ基盤（認証・同意）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001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一括チェックと商標照合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002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Google 検索チェック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未着手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003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ドメイン・SNS の空き確認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未着手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004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チェック履歴の管理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未着手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005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運営者の管理画面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未着手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999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運用基盤（監視・デプロイ）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未着手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docs/feature/README.md、docs/feature/spec_order.md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無料で公開し、6 か月後に月額 980 円のプランを始める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441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832"/>
                <a:gridCol w="3345934"/>
                <a:gridCol w="4578647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プラン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価格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含むもの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無料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0 円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全チェック（候補数に上限）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有料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月額 980 円（税込）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無料の上限を広げる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参考: 同一商標調査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6,000 円/商標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JPDS（税別）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参考: TM-SONAR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月 2,000〜90,000 円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月額制の商標調査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docs/project.md §3、docs/concept/competitor.md §1.1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標準シナリオでは 2 年目に黒字化する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08760"/>
          <a:ext cx="11094415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docs/project.md §4（plan.py の計算結果、標準シナリオ、単位: 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悲観でも必要資金は約 4 万円で、自己資金で賄える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441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333"/>
                <a:gridCol w="4075499"/>
                <a:gridCol w="2037749"/>
                <a:gridCol w="3169832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シナリオ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有料会員（年平均）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必要資金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3 年の累積損益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楽観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3→60→200 人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5,837 円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2,777,486 円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標準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1→25→100 人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28,346 円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1,266,844 円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悲観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0→10→30 人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39,600 円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322,973 円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docs/project.md §4（plan.py の計算結果）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有料化の 12 か月後に 20 人未満なら撤退を検討する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441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2668"/>
                <a:gridCol w="3750224"/>
                <a:gridCol w="4531521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KPI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目標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見直し・撤退の基準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有料会員数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有料化 12 か月後に 40 人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6 か月後 10 人未満で見直し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有料会員数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3 年目の平均 100 人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12 か月後 20 人未満で撤退検討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月額費用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常に 5,000 円以下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上限の 80% 超で見直し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登録者数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有料化の前に決める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月間チェック候補数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有料化の前に決める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docs/project.md §5、docs/nfr.md NFR-CT-001・NFR-CT-002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MVP の公開は 2027 年 1〜4 月、有料化は 7〜10 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833"/>
                <a:gridCol w="4671332"/>
                <a:gridCol w="5255249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#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内容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時期（最短〜最長）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M0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特許庁データの申込と承認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2026 年 10 月〜未定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M1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MVP の開発完了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2026 年 12 月〜2027 年 3 月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M2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無料公開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2027 年 1 月〜4 月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M3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有料化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2027 年 7 月〜10 月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M4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見直しの判定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2028 年 1 月〜4 月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M5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撤退の判定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2028 年 7 月〜10 月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docs/project.md §6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1 人・週 10 時間で進め、残りの工数は 13〜27 人日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4415" cy="4114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開発、運用、サポート、集客を 1 人で兼任する（副業）</a:t>
            </a:r>
          </a:p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残りの MVP の工数は 13〜27 人日で、11〜22 週かかる</a:t>
            </a:r>
          </a:p>
          <a:p>
            <a:pPr lvl="1">
              <a:spcAft>
                <a:spcPts val="810"/>
              </a:spcAft>
            </a:pPr>
            <a:r>
              <a:rPr sz="16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      – </a:t>
            </a:r>
            <a:r>
              <a:rPr sz="16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002〜005、999 と公開準備の合計</a:t>
            </a:r>
          </a:p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有料化の前に、有料プランと決済で 4〜8 人日を足す</a:t>
            </a:r>
          </a:p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集客は SEO 記事と SNS だけで、広告は使わない</a:t>
            </a:r>
          </a:p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事業は個人事業の名義で始める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docs/project.md §6、§7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最大のリスクは商標データの利用条件と、有料会員の定着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3806"/>
                <a:gridCol w="1040101"/>
                <a:gridCol w="5200507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リスク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影響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Meiryo"/>
                          <a:cs typeface="Meiryo"/>
                        </a:rPr>
                        <a:t>対策</a:t>
                      </a:r>
                    </a:p>
                  </a:txBody>
                  <a:tcPr marL="76200" marR="76200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特許庁データを商用に使えない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大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申込前に確認、法人化を検討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有料会員が定着しない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大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解約率を計測、価格の形を再検討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無料の競合がある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中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比較と Google 検索で差別化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Google 検索の取得が止まる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中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取得部分を差し替え可能にする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称呼類似の精度が低い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中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簡易チェックと明示する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対応者が 1 人・週 10 時間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中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Arial"/>
                          <a:ea typeface="Meiryo"/>
                          <a:cs typeface="Meiryo"/>
                        </a:rPr>
                        <a:t>監視・通知と手順書を用意</a:t>
                      </a:r>
                    </a:p>
                  </a:txBody>
                  <a:tcPr marL="76200" marR="7620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docs/project.md §8、docs/architecture.md §9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8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VPS 1 台の構成で、月額約 3,270 円で運用する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0" cy="54864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4415" cy="4114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さくらの VPS 2GB（東京）の上で、Docker Compose で動かす</a:t>
            </a:r>
          </a:p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商標データは特許庁の一括ダウンロードを自前の DB に取り込む</a:t>
            </a:r>
          </a:p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Google 検索は第三者の API（Serper.dev）で取得する</a:t>
            </a:r>
          </a:p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成長時は月約 5,300〜6,600 円（VPS 4GB など）</a:t>
            </a:r>
          </a:p>
          <a:p>
            <a:pPr>
              <a:spcAft>
                <a:spcPts val="810"/>
              </a:spcAft>
            </a:pPr>
            <a:r>
              <a:rPr sz="1800" b="1">
                <a:solidFill>
                  <a:srgbClr val="E07A1F"/>
                </a:solidFill>
                <a:latin typeface="Arial"/>
                <a:ea typeface="Meiryo"/>
                <a:cs typeface="Meiryo"/>
              </a:rPr>
              <a:t>• </a:t>
            </a:r>
            <a:r>
              <a:rPr sz="1800" b="0">
                <a:solidFill>
                  <a:srgbClr val="222222"/>
                </a:solidFill>
                <a:latin typeface="Arial"/>
                <a:ea typeface="Meiryo"/>
                <a:cs typeface="Meiryo"/>
              </a:rPr>
              <a:t>月額の上限は 5,000 円で、超えたら有料 API を止める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docs/architecture.md §2・§5、docs/nfr.md NFR-CT-001・NFR-CT-002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109728" cy="2194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728655" cy="1737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Arial"/>
                <a:ea typeface="Meiryo"/>
                <a:cs typeface="Meiryo"/>
              </a:rPr>
              <a:t>MVP の開発・公開と、撤退の基準を含む計画を承認してほしい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728655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8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承認後、特許庁データの申込条件を確かめ、002 の開発に着手する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9997135" cy="548640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出典: docs/project.md §5、§6、§10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1722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rial"/>
                <a:ea typeface="Meiryo"/>
                <a:cs typeface="Meiryo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